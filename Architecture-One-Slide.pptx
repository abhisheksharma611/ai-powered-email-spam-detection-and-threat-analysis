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(45s): Browser talks only to Flask. Flask logs you in via Google, fetches 50 mails, and runs one shared pipeline — sync scans and background tasks call the same function. The pipeline votes with AI, adjusts to 0–100 risk, saves to local SQLite, and Flask reads it back for the pages. If asked about scale: single worker, CPU 200–500ms per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D1333"/>
          </a:solidFill>
          <a:ln w="12700">
            <a:solidFill>
              <a:srgbClr val="1D1333"/>
            </a:solidFill>
            <a:prstDash val="solid"/>
          </a:ln>
        </p:spPr>
      </p:sp>
      <p:sp>
        <p:nvSpPr>
          <p:cNvPr id="3" name="Shape 1"/>
          <p:cNvSpPr/>
          <p:nvPr/>
        </p:nvSpPr>
        <p:spPr>
          <a:xfrm>
            <a:off x="8503920" y="0"/>
            <a:ext cx="640080" cy="502920"/>
          </a:xfrm>
          <a:prstGeom prst="rect">
            <a:avLst/>
          </a:prstGeom>
          <a:solidFill>
            <a:srgbClr val="A12556"/>
          </a:solidFill>
          <a:ln w="12700">
            <a:solidFill>
              <a:srgbClr val="A12556"/>
            </a:solidFill>
            <a:prstDash val="solid"/>
          </a:ln>
        </p:spPr>
      </p:sp>
      <p:sp>
        <p:nvSpPr>
          <p:cNvPr id="4" name="Text 2"/>
          <p:cNvSpPr/>
          <p:nvPr/>
        </p:nvSpPr>
        <p:spPr>
          <a:xfrm>
            <a:off x="548640" y="109728"/>
            <a:ext cx="7680960" cy="548640"/>
          </a:xfrm>
          <a:prstGeom prst="rect">
            <a:avLst/>
          </a:prstGeom>
          <a:noFill/>
          <a:ln/>
        </p:spPr>
        <p:txBody>
          <a:bodyPr wrap="square" lIns="0" tIns="0" rIns="0" bIns="0" rtlCol="0" anchor="ctr"/>
          <a:lstStyle/>
          <a:p>
            <a:pPr indent="0" marL="0">
              <a:buNone/>
            </a:pPr>
            <a:r>
              <a:rPr lang="en-US" sz="2800" b="1" dirty="0">
                <a:solidFill>
                  <a:srgbClr val="E0507C"/>
                </a:solidFill>
                <a:latin typeface="Arial" pitchFamily="34" charset="0"/>
                <a:ea typeface="Arial" pitchFamily="34" charset="-122"/>
                <a:cs typeface="Arial" pitchFamily="34" charset="-120"/>
              </a:rPr>
              <a:t>SYSTEM ARCHITECTURE</a:t>
            </a:r>
            <a:endParaRPr lang="en-US" sz="2800" dirty="0"/>
          </a:p>
        </p:txBody>
      </p:sp>
      <p:sp>
        <p:nvSpPr>
          <p:cNvPr id="5" name="Text 3"/>
          <p:cNvSpPr/>
          <p:nvPr/>
        </p:nvSpPr>
        <p:spPr>
          <a:xfrm>
            <a:off x="274320" y="1170432"/>
            <a:ext cx="914400" cy="219456"/>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CLIENT</a:t>
            </a:r>
            <a:endParaRPr lang="en-US" sz="1000" dirty="0"/>
          </a:p>
        </p:txBody>
      </p:sp>
      <p:sp>
        <p:nvSpPr>
          <p:cNvPr id="6" name="Text 4"/>
          <p:cNvSpPr/>
          <p:nvPr/>
        </p:nvSpPr>
        <p:spPr>
          <a:xfrm>
            <a:off x="274320" y="1856232"/>
            <a:ext cx="914400" cy="219456"/>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SERVER</a:t>
            </a:r>
            <a:endParaRPr lang="en-US" sz="1000" dirty="0"/>
          </a:p>
        </p:txBody>
      </p:sp>
      <p:sp>
        <p:nvSpPr>
          <p:cNvPr id="7" name="Text 5"/>
          <p:cNvSpPr/>
          <p:nvPr/>
        </p:nvSpPr>
        <p:spPr>
          <a:xfrm>
            <a:off x="274320" y="2651760"/>
            <a:ext cx="914400" cy="219456"/>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AI LAYER</a:t>
            </a:r>
            <a:endParaRPr lang="en-US" sz="1000" dirty="0"/>
          </a:p>
        </p:txBody>
      </p:sp>
      <p:sp>
        <p:nvSpPr>
          <p:cNvPr id="8" name="Text 6"/>
          <p:cNvSpPr/>
          <p:nvPr/>
        </p:nvSpPr>
        <p:spPr>
          <a:xfrm>
            <a:off x="274320" y="3401568"/>
            <a:ext cx="914400" cy="219456"/>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DATA</a:t>
            </a:r>
            <a:endParaRPr lang="en-US" sz="1000" dirty="0"/>
          </a:p>
        </p:txBody>
      </p:sp>
      <p:sp>
        <p:nvSpPr>
          <p:cNvPr id="9" name="Shape 7"/>
          <p:cNvSpPr/>
          <p:nvPr/>
        </p:nvSpPr>
        <p:spPr>
          <a:xfrm>
            <a:off x="3200400" y="960120"/>
            <a:ext cx="2743200" cy="457200"/>
          </a:xfrm>
          <a:prstGeom prst="roundRect">
            <a:avLst>
              <a:gd name="adj" fmla="val 16000"/>
            </a:avLst>
          </a:prstGeom>
          <a:solidFill>
            <a:srgbClr val="FFFFFF"/>
          </a:solidFill>
          <a:ln w="19050">
            <a:solidFill>
              <a:srgbClr val="1F1F1F"/>
            </a:solidFill>
            <a:prstDash val="solid"/>
          </a:ln>
        </p:spPr>
      </p:sp>
      <p:sp>
        <p:nvSpPr>
          <p:cNvPr id="10" name="Text 8"/>
          <p:cNvSpPr/>
          <p:nvPr/>
        </p:nvSpPr>
        <p:spPr>
          <a:xfrm>
            <a:off x="3200400" y="996696"/>
            <a:ext cx="2743200" cy="402336"/>
          </a:xfrm>
          <a:prstGeom prst="rect">
            <a:avLst/>
          </a:prstGeom>
          <a:noFill/>
          <a:ln/>
        </p:spPr>
        <p:txBody>
          <a:bodyPr wrap="square" lIns="0" tIns="0" rIns="0" bIns="0" rtlCol="0" anchor="ctr"/>
          <a:lstStyle/>
          <a:p>
            <a:pPr algn="ctr" indent="0" marL="0">
              <a:buNone/>
            </a:pPr>
            <a:r>
              <a:rPr lang="en-US" sz="1300" b="1" dirty="0">
                <a:solidFill>
                  <a:srgbClr val="1F1F1F"/>
                </a:solidFill>
                <a:latin typeface="Arial" pitchFamily="34" charset="0"/>
                <a:ea typeface="Arial" pitchFamily="34" charset="-122"/>
                <a:cs typeface="Arial" pitchFamily="34" charset="-120"/>
              </a:rPr>
              <a:t>Browser UI</a:t>
            </a:r>
            <a:endParaRPr lang="en-US" sz="1300" dirty="0"/>
          </a:p>
          <a:p>
            <a:pPr algn="ctr" indent="0" marL="0">
              <a:buNone/>
            </a:pPr>
            <a:r>
              <a:rPr lang="en-US" sz="800" dirty="0">
                <a:solidFill>
                  <a:srgbClr val="555555"/>
                </a:solidFill>
                <a:latin typeface="Arial" pitchFamily="34" charset="0"/>
                <a:ea typeface="Arial" pitchFamily="34" charset="-122"/>
                <a:cs typeface="Arial" pitchFamily="34" charset="-120"/>
              </a:rPr>
              <a:t>dashboard · results · charts + progress</a:t>
            </a:r>
            <a:endParaRPr lang="en-US" sz="1300" dirty="0"/>
          </a:p>
        </p:txBody>
      </p:sp>
      <p:sp>
        <p:nvSpPr>
          <p:cNvPr id="11" name="Shape 9"/>
          <p:cNvSpPr/>
          <p:nvPr/>
        </p:nvSpPr>
        <p:spPr>
          <a:xfrm>
            <a:off x="3200400" y="1600200"/>
            <a:ext cx="2743200" cy="548640"/>
          </a:xfrm>
          <a:prstGeom prst="roundRect">
            <a:avLst>
              <a:gd name="adj" fmla="val 13333"/>
            </a:avLst>
          </a:prstGeom>
          <a:solidFill>
            <a:srgbClr val="FFFFFF"/>
          </a:solidFill>
          <a:ln w="19050">
            <a:solidFill>
              <a:srgbClr val="1F1F1F"/>
            </a:solidFill>
            <a:prstDash val="solid"/>
          </a:ln>
        </p:spPr>
      </p:sp>
      <p:sp>
        <p:nvSpPr>
          <p:cNvPr id="12" name="Text 10"/>
          <p:cNvSpPr/>
          <p:nvPr/>
        </p:nvSpPr>
        <p:spPr>
          <a:xfrm>
            <a:off x="3200400" y="1636776"/>
            <a:ext cx="2743200" cy="493776"/>
          </a:xfrm>
          <a:prstGeom prst="rect">
            <a:avLst/>
          </a:prstGeom>
          <a:noFill/>
          <a:ln/>
        </p:spPr>
        <p:txBody>
          <a:bodyPr wrap="square" lIns="0" tIns="0" rIns="0" bIns="0" rtlCol="0" anchor="ctr"/>
          <a:lstStyle/>
          <a:p>
            <a:pPr algn="ctr" indent="0" marL="0">
              <a:buNone/>
            </a:pPr>
            <a:r>
              <a:rPr lang="en-US" sz="1300" b="1" dirty="0">
                <a:solidFill>
                  <a:srgbClr val="1F1F1F"/>
                </a:solidFill>
                <a:latin typeface="Arial" pitchFamily="34" charset="0"/>
                <a:ea typeface="Arial" pitchFamily="34" charset="-122"/>
                <a:cs typeface="Arial" pitchFamily="34" charset="-120"/>
              </a:rPr>
              <a:t>Flask Server (app.py)</a:t>
            </a:r>
            <a:endParaRPr lang="en-US" sz="1300" dirty="0"/>
          </a:p>
          <a:p>
            <a:pPr algn="ctr" indent="0" marL="0">
              <a:buNone/>
            </a:pPr>
            <a:r>
              <a:rPr lang="en-US" sz="800" dirty="0">
                <a:solidFill>
                  <a:srgbClr val="555555"/>
                </a:solidFill>
                <a:latin typeface="Arial" pitchFamily="34" charset="0"/>
                <a:ea typeface="Arial" pitchFamily="34" charset="-122"/>
                <a:cs typeface="Arial" pitchFamily="34" charset="-120"/>
              </a:rPr>
              <a:t>auth guard · rate limits · sync + background</a:t>
            </a:r>
            <a:endParaRPr lang="en-US" sz="1300" dirty="0"/>
          </a:p>
        </p:txBody>
      </p:sp>
      <p:sp>
        <p:nvSpPr>
          <p:cNvPr id="13" name="Shape 11"/>
          <p:cNvSpPr/>
          <p:nvPr/>
        </p:nvSpPr>
        <p:spPr>
          <a:xfrm>
            <a:off x="3200400" y="2331720"/>
            <a:ext cx="2743200" cy="685800"/>
          </a:xfrm>
          <a:prstGeom prst="roundRect">
            <a:avLst>
              <a:gd name="adj" fmla="val 10667"/>
            </a:avLst>
          </a:prstGeom>
          <a:solidFill>
            <a:srgbClr val="FFF5F6"/>
          </a:solidFill>
          <a:ln w="22225">
            <a:solidFill>
              <a:srgbClr val="A12556"/>
            </a:solidFill>
            <a:prstDash val="solid"/>
          </a:ln>
        </p:spPr>
      </p:sp>
      <p:sp>
        <p:nvSpPr>
          <p:cNvPr id="14" name="Text 12"/>
          <p:cNvSpPr/>
          <p:nvPr/>
        </p:nvSpPr>
        <p:spPr>
          <a:xfrm>
            <a:off x="3200400" y="2368296"/>
            <a:ext cx="2743200" cy="630936"/>
          </a:xfrm>
          <a:prstGeom prst="rect">
            <a:avLst/>
          </a:prstGeom>
          <a:noFill/>
          <a:ln/>
        </p:spPr>
        <p:txBody>
          <a:bodyPr wrap="square" lIns="0" tIns="0" rIns="0" bIns="0" rtlCol="0" anchor="ctr"/>
          <a:lstStyle/>
          <a:p>
            <a:pPr algn="ctr" indent="0" marL="0">
              <a:buNone/>
            </a:pPr>
            <a:r>
              <a:rPr lang="en-US" sz="1300" b="1" dirty="0">
                <a:solidFill>
                  <a:srgbClr val="1F1F1F"/>
                </a:solidFill>
                <a:latin typeface="Arial" pitchFamily="34" charset="0"/>
                <a:ea typeface="Arial" pitchFamily="34" charset="-122"/>
                <a:cs typeface="Arial" pitchFamily="34" charset="-120"/>
              </a:rPr>
              <a:t>AI + Risk Pipeline</a:t>
            </a:r>
            <a:endParaRPr lang="en-US" sz="1300" dirty="0"/>
          </a:p>
          <a:p>
            <a:pPr algn="ctr" indent="0" marL="0">
              <a:buNone/>
            </a:pPr>
            <a:r>
              <a:rPr lang="en-US" sz="800" dirty="0">
                <a:solidFill>
                  <a:srgbClr val="555555"/>
                </a:solidFill>
                <a:latin typeface="Arial" pitchFamily="34" charset="0"/>
                <a:ea typeface="Arial" pitchFamily="34" charset="-122"/>
                <a:cs typeface="Arial" pitchFamily="34" charset="-120"/>
              </a:rPr>
              <a:t>fetch → clean → vote → score · 90/10 · 0–100</a:t>
            </a:r>
            <a:endParaRPr lang="en-US" sz="1300" dirty="0"/>
          </a:p>
        </p:txBody>
      </p:sp>
      <p:sp>
        <p:nvSpPr>
          <p:cNvPr id="15" name="Shape 13"/>
          <p:cNvSpPr/>
          <p:nvPr/>
        </p:nvSpPr>
        <p:spPr>
          <a:xfrm>
            <a:off x="3200400" y="3200400"/>
            <a:ext cx="2743200" cy="457200"/>
          </a:xfrm>
          <a:prstGeom prst="roundRect">
            <a:avLst>
              <a:gd name="adj" fmla="val 16000"/>
            </a:avLst>
          </a:prstGeom>
          <a:solidFill>
            <a:srgbClr val="F0F0F0"/>
          </a:solidFill>
          <a:ln w="19050">
            <a:solidFill>
              <a:srgbClr val="555555"/>
            </a:solidFill>
            <a:prstDash val="solid"/>
          </a:ln>
        </p:spPr>
      </p:sp>
      <p:sp>
        <p:nvSpPr>
          <p:cNvPr id="16" name="Text 14"/>
          <p:cNvSpPr/>
          <p:nvPr/>
        </p:nvSpPr>
        <p:spPr>
          <a:xfrm>
            <a:off x="3200400" y="3236976"/>
            <a:ext cx="2743200" cy="402336"/>
          </a:xfrm>
          <a:prstGeom prst="rect">
            <a:avLst/>
          </a:prstGeom>
          <a:noFill/>
          <a:ln/>
        </p:spPr>
        <p:txBody>
          <a:bodyPr wrap="square" lIns="0" tIns="0" rIns="0" bIns="0" rtlCol="0" anchor="ctr"/>
          <a:lstStyle/>
          <a:p>
            <a:pPr algn="ctr" indent="0" marL="0">
              <a:buNone/>
            </a:pPr>
            <a:r>
              <a:rPr lang="en-US" sz="1300" b="1" dirty="0">
                <a:solidFill>
                  <a:srgbClr val="1F1F1F"/>
                </a:solidFill>
                <a:latin typeface="Arial" pitchFamily="34" charset="0"/>
                <a:ea typeface="Arial" pitchFamily="34" charset="-122"/>
                <a:cs typeface="Arial" pitchFamily="34" charset="-120"/>
              </a:rPr>
              <a:t>SQLite Storage</a:t>
            </a:r>
            <a:endParaRPr lang="en-US" sz="1300" dirty="0"/>
          </a:p>
          <a:p>
            <a:pPr algn="ctr" indent="0" marL="0">
              <a:buNone/>
            </a:pPr>
            <a:r>
              <a:rPr lang="en-US" sz="800" dirty="0">
                <a:solidFill>
                  <a:srgbClr val="555555"/>
                </a:solidFill>
                <a:latin typeface="Arial" pitchFamily="34" charset="0"/>
                <a:ea typeface="Arial" pitchFamily="34" charset="-122"/>
                <a:cs typeface="Arial" pitchFamily="34" charset="-120"/>
              </a:rPr>
              <a:t>email · reputation · keywords · tokens</a:t>
            </a:r>
            <a:endParaRPr lang="en-US" sz="1300" dirty="0"/>
          </a:p>
        </p:txBody>
      </p:sp>
      <p:sp>
        <p:nvSpPr>
          <p:cNvPr id="17" name="Shape 15"/>
          <p:cNvSpPr/>
          <p:nvPr/>
        </p:nvSpPr>
        <p:spPr>
          <a:xfrm>
            <a:off x="6400800" y="1600200"/>
            <a:ext cx="1920240" cy="548640"/>
          </a:xfrm>
          <a:prstGeom prst="roundRect">
            <a:avLst>
              <a:gd name="adj" fmla="val 13333"/>
            </a:avLst>
          </a:prstGeom>
          <a:solidFill>
            <a:srgbClr val="F4F4F4"/>
          </a:solidFill>
          <a:ln w="19050">
            <a:solidFill>
              <a:srgbClr val="2E5AA8"/>
            </a:solidFill>
            <a:prstDash val="solid"/>
          </a:ln>
        </p:spPr>
      </p:sp>
      <p:sp>
        <p:nvSpPr>
          <p:cNvPr id="18" name="Text 16"/>
          <p:cNvSpPr/>
          <p:nvPr/>
        </p:nvSpPr>
        <p:spPr>
          <a:xfrm>
            <a:off x="6400800" y="1636776"/>
            <a:ext cx="1920240" cy="493776"/>
          </a:xfrm>
          <a:prstGeom prst="rect">
            <a:avLst/>
          </a:prstGeom>
          <a:noFill/>
          <a:ln/>
        </p:spPr>
        <p:txBody>
          <a:bodyPr wrap="square" lIns="0" tIns="0" rIns="0" bIns="0" rtlCol="0" anchor="ctr"/>
          <a:lstStyle/>
          <a:p>
            <a:pPr algn="ctr" indent="0" marL="0">
              <a:buNone/>
            </a:pPr>
            <a:r>
              <a:rPr lang="en-US" sz="1200" b="1" dirty="0">
                <a:solidFill>
                  <a:srgbClr val="1F1F1F"/>
                </a:solidFill>
                <a:latin typeface="Arial" pitchFamily="34" charset="0"/>
                <a:ea typeface="Arial" pitchFamily="34" charset="-122"/>
                <a:cs typeface="Arial" pitchFamily="34" charset="-120"/>
              </a:rPr>
              <a:t>Google Services</a:t>
            </a:r>
            <a:endParaRPr lang="en-US" sz="1200" dirty="0"/>
          </a:p>
          <a:p>
            <a:pPr algn="ctr" indent="0" marL="0">
              <a:buNone/>
            </a:pPr>
            <a:r>
              <a:rPr lang="en-US" sz="800" dirty="0">
                <a:solidFill>
                  <a:srgbClr val="555555"/>
                </a:solidFill>
                <a:latin typeface="Arial" pitchFamily="34" charset="0"/>
                <a:ea typeface="Arial" pitchFamily="34" charset="-122"/>
                <a:cs typeface="Arial" pitchFamily="34" charset="-120"/>
              </a:rPr>
              <a:t>OAuth login · Gmail API</a:t>
            </a:r>
            <a:endParaRPr lang="en-US" sz="1200" dirty="0"/>
          </a:p>
        </p:txBody>
      </p:sp>
      <p:sp>
        <p:nvSpPr>
          <p:cNvPr id="19" name="Shape 17"/>
          <p:cNvSpPr/>
          <p:nvPr/>
        </p:nvSpPr>
        <p:spPr>
          <a:xfrm>
            <a:off x="6400800" y="2331720"/>
            <a:ext cx="1920240" cy="548640"/>
          </a:xfrm>
          <a:prstGeom prst="roundRect">
            <a:avLst>
              <a:gd name="adj" fmla="val 13333"/>
            </a:avLst>
          </a:prstGeom>
          <a:solidFill>
            <a:srgbClr val="F4F4F4"/>
          </a:solidFill>
          <a:ln w="15875">
            <a:solidFill>
              <a:srgbClr val="808080"/>
            </a:solidFill>
            <a:prstDash val="dash"/>
          </a:ln>
        </p:spPr>
      </p:sp>
      <p:sp>
        <p:nvSpPr>
          <p:cNvPr id="20" name="Text 18"/>
          <p:cNvSpPr/>
          <p:nvPr/>
        </p:nvSpPr>
        <p:spPr>
          <a:xfrm>
            <a:off x="6400800" y="2368296"/>
            <a:ext cx="1920240" cy="493776"/>
          </a:xfrm>
          <a:prstGeom prst="rect">
            <a:avLst/>
          </a:prstGeom>
          <a:noFill/>
          <a:ln/>
        </p:spPr>
        <p:txBody>
          <a:bodyPr wrap="square" lIns="0" tIns="0" rIns="0" bIns="0" rtlCol="0" anchor="ctr"/>
          <a:lstStyle/>
          <a:p>
            <a:pPr algn="ctr" indent="0" marL="0">
              <a:buNone/>
            </a:pPr>
            <a:r>
              <a:rPr lang="en-US" sz="1200" b="1" dirty="0">
                <a:solidFill>
                  <a:srgbClr val="1F1F1F"/>
                </a:solidFill>
                <a:latin typeface="Arial" pitchFamily="34" charset="0"/>
                <a:ea typeface="Arial" pitchFamily="34" charset="-122"/>
                <a:cs typeface="Arial" pitchFamily="34" charset="-120"/>
              </a:rPr>
              <a:t>NVIDIA NIM</a:t>
            </a:r>
            <a:endParaRPr lang="en-US" sz="1200" dirty="0"/>
          </a:p>
          <a:p>
            <a:pPr algn="ctr" indent="0" marL="0">
              <a:buNone/>
            </a:pPr>
            <a:r>
              <a:rPr lang="en-US" sz="800" dirty="0">
                <a:solidFill>
                  <a:srgbClr val="555555"/>
                </a:solidFill>
                <a:latin typeface="Arial" pitchFamily="34" charset="0"/>
                <a:ea typeface="Arial" pitchFamily="34" charset="-122"/>
                <a:cs typeface="Arial" pitchFamily="34" charset="-120"/>
              </a:rPr>
              <a:t>one sentence · skips silently</a:t>
            </a:r>
            <a:endParaRPr lang="en-US" sz="1200" dirty="0"/>
          </a:p>
        </p:txBody>
      </p:sp>
      <p:sp>
        <p:nvSpPr>
          <p:cNvPr id="21" name="Shape 19"/>
          <p:cNvSpPr/>
          <p:nvPr/>
        </p:nvSpPr>
        <p:spPr>
          <a:xfrm>
            <a:off x="4556455" y="1417320"/>
            <a:ext cx="32004" cy="182880"/>
          </a:xfrm>
          <a:prstGeom prst="rect">
            <a:avLst/>
          </a:prstGeom>
          <a:solidFill>
            <a:srgbClr val="1F1F1F"/>
          </a:solidFill>
          <a:ln w="12700">
            <a:solidFill>
              <a:srgbClr val="1F1F1F"/>
            </a:solidFill>
            <a:prstDash val="solid"/>
          </a:ln>
        </p:spPr>
      </p:sp>
      <p:sp>
        <p:nvSpPr>
          <p:cNvPr id="22" name="Shape 20"/>
          <p:cNvSpPr/>
          <p:nvPr/>
        </p:nvSpPr>
        <p:spPr>
          <a:xfrm rot="10800000">
            <a:off x="4512564" y="1499616"/>
            <a:ext cx="118872" cy="100584"/>
          </a:xfrm>
          <a:prstGeom prst="triangle">
            <a:avLst/>
          </a:prstGeom>
          <a:solidFill>
            <a:srgbClr val="1F1F1F"/>
          </a:solidFill>
          <a:ln w="12700">
            <a:solidFill>
              <a:srgbClr val="1F1F1F"/>
            </a:solidFill>
            <a:prstDash val="solid"/>
          </a:ln>
        </p:spPr>
      </p:sp>
      <p:sp>
        <p:nvSpPr>
          <p:cNvPr id="23" name="Text 21"/>
          <p:cNvSpPr/>
          <p:nvPr/>
        </p:nvSpPr>
        <p:spPr>
          <a:xfrm>
            <a:off x="4645152" y="1444752"/>
            <a:ext cx="640080" cy="182880"/>
          </a:xfrm>
          <a:prstGeom prst="rect">
            <a:avLst/>
          </a:prstGeom>
          <a:noFill/>
          <a:ln/>
        </p:spPr>
        <p:txBody>
          <a:bodyPr wrap="square" lIns="0" tIns="0" rIns="0" bIns="0" rtlCol="0" anchor="ctr"/>
          <a:lstStyle/>
          <a:p>
            <a:pPr indent="0" marL="0">
              <a:buNone/>
            </a:pPr>
            <a:r>
              <a:rPr lang="en-US" sz="800" dirty="0">
                <a:solidFill>
                  <a:srgbClr val="555555"/>
                </a:solidFill>
                <a:latin typeface="Arial" pitchFamily="34" charset="0"/>
                <a:ea typeface="Arial" pitchFamily="34" charset="-122"/>
                <a:cs typeface="Arial" pitchFamily="34" charset="-120"/>
              </a:rPr>
              <a:t>HTTPS</a:t>
            </a:r>
            <a:endParaRPr lang="en-US" sz="800" dirty="0"/>
          </a:p>
        </p:txBody>
      </p:sp>
      <p:sp>
        <p:nvSpPr>
          <p:cNvPr id="24" name="Shape 22"/>
          <p:cNvSpPr/>
          <p:nvPr/>
        </p:nvSpPr>
        <p:spPr>
          <a:xfrm>
            <a:off x="5943600" y="1858975"/>
            <a:ext cx="457200" cy="32004"/>
          </a:xfrm>
          <a:prstGeom prst="rect">
            <a:avLst/>
          </a:prstGeom>
          <a:solidFill>
            <a:srgbClr val="2E5AA8"/>
          </a:solidFill>
          <a:ln w="12700">
            <a:solidFill>
              <a:srgbClr val="2E5AA8"/>
            </a:solidFill>
            <a:prstDash val="solid"/>
          </a:ln>
        </p:spPr>
      </p:sp>
      <p:sp>
        <p:nvSpPr>
          <p:cNvPr id="25" name="Shape 23"/>
          <p:cNvSpPr/>
          <p:nvPr/>
        </p:nvSpPr>
        <p:spPr>
          <a:xfrm rot="5400000">
            <a:off x="6341364" y="1874520"/>
            <a:ext cx="118872" cy="100584"/>
          </a:xfrm>
          <a:prstGeom prst="triangle">
            <a:avLst/>
          </a:prstGeom>
          <a:solidFill>
            <a:srgbClr val="2E5AA8"/>
          </a:solidFill>
          <a:ln w="12700">
            <a:solidFill>
              <a:srgbClr val="2E5AA8"/>
            </a:solidFill>
            <a:prstDash val="solid"/>
          </a:ln>
        </p:spPr>
      </p:sp>
      <p:sp>
        <p:nvSpPr>
          <p:cNvPr id="26" name="Shape 24"/>
          <p:cNvSpPr/>
          <p:nvPr/>
        </p:nvSpPr>
        <p:spPr>
          <a:xfrm rot="16200000">
            <a:off x="5884164" y="1874520"/>
            <a:ext cx="118872" cy="100584"/>
          </a:xfrm>
          <a:prstGeom prst="triangle">
            <a:avLst/>
          </a:prstGeom>
          <a:solidFill>
            <a:srgbClr val="2E5AA8"/>
          </a:solidFill>
          <a:ln w="12700">
            <a:solidFill>
              <a:srgbClr val="2E5AA8"/>
            </a:solidFill>
            <a:prstDash val="solid"/>
          </a:ln>
        </p:spPr>
      </p:sp>
      <p:sp>
        <p:nvSpPr>
          <p:cNvPr id="27" name="Text 25"/>
          <p:cNvSpPr/>
          <p:nvPr/>
        </p:nvSpPr>
        <p:spPr>
          <a:xfrm>
            <a:off x="5897880" y="1627632"/>
            <a:ext cx="1005840" cy="182880"/>
          </a:xfrm>
          <a:prstGeom prst="rect">
            <a:avLst/>
          </a:prstGeom>
          <a:noFill/>
          <a:ln/>
        </p:spPr>
        <p:txBody>
          <a:bodyPr wrap="square" lIns="0" tIns="0" rIns="0" bIns="0" rtlCol="0" anchor="ctr"/>
          <a:lstStyle/>
          <a:p>
            <a:pPr algn="ctr" indent="0" marL="0">
              <a:buNone/>
            </a:pPr>
            <a:r>
              <a:rPr lang="en-US" sz="800" dirty="0">
                <a:solidFill>
                  <a:srgbClr val="2E5AA8"/>
                </a:solidFill>
                <a:latin typeface="Arial" pitchFamily="34" charset="0"/>
                <a:ea typeface="Arial" pitchFamily="34" charset="-122"/>
                <a:cs typeface="Arial" pitchFamily="34" charset="-120"/>
              </a:rPr>
              <a:t>login+fetch</a:t>
            </a:r>
            <a:endParaRPr lang="en-US" sz="800" dirty="0"/>
          </a:p>
        </p:txBody>
      </p:sp>
      <p:sp>
        <p:nvSpPr>
          <p:cNvPr id="28" name="Shape 26"/>
          <p:cNvSpPr/>
          <p:nvPr/>
        </p:nvSpPr>
        <p:spPr>
          <a:xfrm>
            <a:off x="4556455" y="2148840"/>
            <a:ext cx="32004" cy="182880"/>
          </a:xfrm>
          <a:prstGeom prst="rect">
            <a:avLst/>
          </a:prstGeom>
          <a:solidFill>
            <a:srgbClr val="1F1F1F"/>
          </a:solidFill>
          <a:ln w="12700">
            <a:solidFill>
              <a:srgbClr val="1F1F1F"/>
            </a:solidFill>
            <a:prstDash val="solid"/>
          </a:ln>
        </p:spPr>
      </p:sp>
      <p:sp>
        <p:nvSpPr>
          <p:cNvPr id="29" name="Shape 27"/>
          <p:cNvSpPr/>
          <p:nvPr/>
        </p:nvSpPr>
        <p:spPr>
          <a:xfrm rot="10800000">
            <a:off x="4512564" y="2231136"/>
            <a:ext cx="118872" cy="100584"/>
          </a:xfrm>
          <a:prstGeom prst="triangle">
            <a:avLst/>
          </a:prstGeom>
          <a:solidFill>
            <a:srgbClr val="1F1F1F"/>
          </a:solidFill>
          <a:ln w="12700">
            <a:solidFill>
              <a:srgbClr val="1F1F1F"/>
            </a:solidFill>
            <a:prstDash val="solid"/>
          </a:ln>
        </p:spPr>
      </p:sp>
      <p:sp>
        <p:nvSpPr>
          <p:cNvPr id="30" name="Shape 28"/>
          <p:cNvSpPr/>
          <p:nvPr/>
        </p:nvSpPr>
        <p:spPr>
          <a:xfrm>
            <a:off x="4556455" y="3017520"/>
            <a:ext cx="32004" cy="182880"/>
          </a:xfrm>
          <a:prstGeom prst="rect">
            <a:avLst/>
          </a:prstGeom>
          <a:solidFill>
            <a:srgbClr val="1F1F1F"/>
          </a:solidFill>
          <a:ln w="12700">
            <a:solidFill>
              <a:srgbClr val="1F1F1F"/>
            </a:solidFill>
            <a:prstDash val="solid"/>
          </a:ln>
        </p:spPr>
      </p:sp>
      <p:sp>
        <p:nvSpPr>
          <p:cNvPr id="31" name="Shape 29"/>
          <p:cNvSpPr/>
          <p:nvPr/>
        </p:nvSpPr>
        <p:spPr>
          <a:xfrm rot="10800000">
            <a:off x="4512564" y="3099816"/>
            <a:ext cx="118872" cy="100584"/>
          </a:xfrm>
          <a:prstGeom prst="triangle">
            <a:avLst/>
          </a:prstGeom>
          <a:solidFill>
            <a:srgbClr val="1F1F1F"/>
          </a:solidFill>
          <a:ln w="12700">
            <a:solidFill>
              <a:srgbClr val="1F1F1F"/>
            </a:solidFill>
            <a:prstDash val="solid"/>
          </a:ln>
        </p:spPr>
      </p:sp>
      <p:sp>
        <p:nvSpPr>
          <p:cNvPr id="32" name="Text 30"/>
          <p:cNvSpPr/>
          <p:nvPr/>
        </p:nvSpPr>
        <p:spPr>
          <a:xfrm>
            <a:off x="4645152" y="3044952"/>
            <a:ext cx="640080" cy="182880"/>
          </a:xfrm>
          <a:prstGeom prst="rect">
            <a:avLst/>
          </a:prstGeom>
          <a:noFill/>
          <a:ln/>
        </p:spPr>
        <p:txBody>
          <a:bodyPr wrap="square" lIns="0" tIns="0" rIns="0" bIns="0" rtlCol="0" anchor="ctr"/>
          <a:lstStyle/>
          <a:p>
            <a:pPr indent="0" marL="0">
              <a:buNone/>
            </a:pPr>
            <a:r>
              <a:rPr lang="en-US" sz="800" dirty="0">
                <a:solidFill>
                  <a:srgbClr val="555555"/>
                </a:solidFill>
                <a:latin typeface="Arial" pitchFamily="34" charset="0"/>
                <a:ea typeface="Arial" pitchFamily="34" charset="-122"/>
                <a:cs typeface="Arial" pitchFamily="34" charset="-120"/>
              </a:rPr>
              <a:t>records</a:t>
            </a:r>
            <a:endParaRPr lang="en-US" sz="800" dirty="0"/>
          </a:p>
        </p:txBody>
      </p:sp>
      <p:sp>
        <p:nvSpPr>
          <p:cNvPr id="33" name="Shape 31"/>
          <p:cNvSpPr/>
          <p:nvPr/>
        </p:nvSpPr>
        <p:spPr>
          <a:xfrm>
            <a:off x="2819095" y="1874520"/>
            <a:ext cx="32004" cy="1554480"/>
          </a:xfrm>
          <a:prstGeom prst="rect">
            <a:avLst/>
          </a:prstGeom>
          <a:solidFill>
            <a:srgbClr val="808080"/>
          </a:solidFill>
          <a:ln w="12700">
            <a:solidFill>
              <a:srgbClr val="808080"/>
            </a:solidFill>
            <a:prstDash val="solid"/>
          </a:ln>
        </p:spPr>
      </p:sp>
      <p:sp>
        <p:nvSpPr>
          <p:cNvPr id="34" name="Shape 32"/>
          <p:cNvSpPr/>
          <p:nvPr/>
        </p:nvSpPr>
        <p:spPr>
          <a:xfrm>
            <a:off x="2834640" y="3413455"/>
            <a:ext cx="365760" cy="32004"/>
          </a:xfrm>
          <a:prstGeom prst="rect">
            <a:avLst/>
          </a:prstGeom>
          <a:solidFill>
            <a:srgbClr val="808080"/>
          </a:solidFill>
          <a:ln w="12700">
            <a:solidFill>
              <a:srgbClr val="808080"/>
            </a:solidFill>
            <a:prstDash val="solid"/>
          </a:ln>
        </p:spPr>
      </p:sp>
      <p:sp>
        <p:nvSpPr>
          <p:cNvPr id="35" name="Shape 33"/>
          <p:cNvSpPr/>
          <p:nvPr/>
        </p:nvSpPr>
        <p:spPr>
          <a:xfrm>
            <a:off x="2834640" y="1858975"/>
            <a:ext cx="365760" cy="32004"/>
          </a:xfrm>
          <a:prstGeom prst="rect">
            <a:avLst/>
          </a:prstGeom>
          <a:solidFill>
            <a:srgbClr val="808080"/>
          </a:solidFill>
          <a:ln w="12700">
            <a:solidFill>
              <a:srgbClr val="808080"/>
            </a:solidFill>
            <a:prstDash val="solid"/>
          </a:ln>
        </p:spPr>
      </p:sp>
      <p:sp>
        <p:nvSpPr>
          <p:cNvPr id="36" name="Shape 34"/>
          <p:cNvSpPr/>
          <p:nvPr/>
        </p:nvSpPr>
        <p:spPr>
          <a:xfrm>
            <a:off x="2958084" y="1874520"/>
            <a:ext cx="118872" cy="100584"/>
          </a:xfrm>
          <a:prstGeom prst="triangle">
            <a:avLst/>
          </a:prstGeom>
          <a:solidFill>
            <a:srgbClr val="808080"/>
          </a:solidFill>
          <a:ln w="12700">
            <a:solidFill>
              <a:srgbClr val="808080"/>
            </a:solidFill>
            <a:prstDash val="solid"/>
          </a:ln>
        </p:spPr>
      </p:sp>
      <p:sp>
        <p:nvSpPr>
          <p:cNvPr id="37" name="Text 35"/>
          <p:cNvSpPr/>
          <p:nvPr/>
        </p:nvSpPr>
        <p:spPr>
          <a:xfrm>
            <a:off x="2148840" y="2560320"/>
            <a:ext cx="548640" cy="182880"/>
          </a:xfrm>
          <a:prstGeom prst="rect">
            <a:avLst/>
          </a:prstGeom>
          <a:noFill/>
          <a:ln/>
        </p:spPr>
        <p:txBody>
          <a:bodyPr wrap="square" lIns="0" tIns="0" rIns="0" bIns="0" rtlCol="0" anchor="ctr"/>
          <a:lstStyle/>
          <a:p>
            <a:pPr algn="ctr" indent="0" marL="0">
              <a:buNone/>
            </a:pPr>
            <a:r>
              <a:rPr lang="en-US" sz="800" dirty="0">
                <a:solidFill>
                  <a:srgbClr val="808080"/>
                </a:solidFill>
                <a:latin typeface="Arial" pitchFamily="34" charset="0"/>
                <a:ea typeface="Arial" pitchFamily="34" charset="-122"/>
                <a:cs typeface="Arial" pitchFamily="34" charset="-120"/>
              </a:rPr>
              <a:t>reads</a:t>
            </a:r>
            <a:endParaRPr lang="en-US" sz="800" dirty="0"/>
          </a:p>
        </p:txBody>
      </p:sp>
      <p:sp>
        <p:nvSpPr>
          <p:cNvPr id="38" name="Shape 36"/>
          <p:cNvSpPr/>
          <p:nvPr/>
        </p:nvSpPr>
        <p:spPr>
          <a:xfrm>
            <a:off x="5943600" y="2590495"/>
            <a:ext cx="457200" cy="32004"/>
          </a:xfrm>
          <a:prstGeom prst="rect">
            <a:avLst/>
          </a:prstGeom>
          <a:solidFill>
            <a:srgbClr val="808080"/>
          </a:solidFill>
          <a:ln w="12700">
            <a:solidFill>
              <a:srgbClr val="808080"/>
            </a:solidFill>
            <a:prstDash val="solid"/>
          </a:ln>
        </p:spPr>
      </p:sp>
      <p:sp>
        <p:nvSpPr>
          <p:cNvPr id="39" name="Shape 37"/>
          <p:cNvSpPr/>
          <p:nvPr/>
        </p:nvSpPr>
        <p:spPr>
          <a:xfrm rot="5400000">
            <a:off x="6341364" y="2606040"/>
            <a:ext cx="118872" cy="100584"/>
          </a:xfrm>
          <a:prstGeom prst="triangle">
            <a:avLst/>
          </a:prstGeom>
          <a:solidFill>
            <a:srgbClr val="808080"/>
          </a:solidFill>
          <a:ln w="12700">
            <a:solidFill>
              <a:srgbClr val="808080"/>
            </a:solidFill>
            <a:prstDash val="solid"/>
          </a:ln>
        </p:spPr>
      </p:sp>
      <p:sp>
        <p:nvSpPr>
          <p:cNvPr id="40" name="Text 38"/>
          <p:cNvSpPr/>
          <p:nvPr/>
        </p:nvSpPr>
        <p:spPr>
          <a:xfrm>
            <a:off x="5897880" y="2651760"/>
            <a:ext cx="1005840" cy="182880"/>
          </a:xfrm>
          <a:prstGeom prst="rect">
            <a:avLst/>
          </a:prstGeom>
          <a:noFill/>
          <a:ln/>
        </p:spPr>
        <p:txBody>
          <a:bodyPr wrap="square" lIns="0" tIns="0" rIns="0" bIns="0" rtlCol="0" anchor="ctr"/>
          <a:lstStyle/>
          <a:p>
            <a:pPr algn="ctr" indent="0" marL="0">
              <a:buNone/>
            </a:pPr>
            <a:r>
              <a:rPr lang="en-US" sz="800" dirty="0">
                <a:solidFill>
                  <a:srgbClr val="808080"/>
                </a:solidFill>
                <a:latin typeface="Arial" pitchFamily="34" charset="0"/>
                <a:ea typeface="Arial" pitchFamily="34" charset="-122"/>
                <a:cs typeface="Arial" pitchFamily="34" charset="-120"/>
              </a:rPr>
              <a:t>optional</a:t>
            </a:r>
            <a:endParaRPr lang="en-US" sz="800" dirty="0"/>
          </a:p>
        </p:txBody>
      </p:sp>
      <p:sp>
        <p:nvSpPr>
          <p:cNvPr id="41" name="Text 39"/>
          <p:cNvSpPr/>
          <p:nvPr/>
        </p:nvSpPr>
        <p:spPr>
          <a:xfrm>
            <a:off x="457200" y="3886200"/>
            <a:ext cx="8229600" cy="237744"/>
          </a:xfrm>
          <a:prstGeom prst="rect">
            <a:avLst/>
          </a:prstGeom>
          <a:noFill/>
          <a:ln/>
        </p:spPr>
        <p:txBody>
          <a:bodyPr wrap="square" lIns="0" tIns="0" rIns="0" bIns="0" rtlCol="0" anchor="ctr"/>
          <a:lstStyle/>
          <a:p>
            <a:pPr algn="ctr" indent="0" marL="0">
              <a:buNone/>
            </a:pPr>
            <a:r>
              <a:rPr lang="en-US" sz="900" dirty="0">
                <a:solidFill>
                  <a:srgbClr val="333333"/>
                </a:solidFill>
                <a:latin typeface="Arial" pitchFamily="34" charset="0"/>
                <a:ea typeface="Arial" pitchFamily="34" charset="-122"/>
                <a:cs typeface="Arial" pitchFamily="34" charset="-120"/>
              </a:rPr>
              <a:t>sync + background scans share one pipeline · blue = Google · gray dashed = optional</a:t>
            </a:r>
            <a:endParaRPr lang="en-US" sz="900" dirty="0"/>
          </a:p>
        </p:txBody>
      </p:sp>
      <p:sp>
        <p:nvSpPr>
          <p:cNvPr id="42" name="Shape 40"/>
          <p:cNvSpPr/>
          <p:nvPr/>
        </p:nvSpPr>
        <p:spPr>
          <a:xfrm>
            <a:off x="0" y="4800600"/>
            <a:ext cx="9144000" cy="342900"/>
          </a:xfrm>
          <a:prstGeom prst="rect">
            <a:avLst/>
          </a:prstGeom>
          <a:solidFill>
            <a:srgbClr val="111111"/>
          </a:solidFill>
          <a:ln w="12700">
            <a:solidFill>
              <a:srgbClr val="111111"/>
            </a:solidFill>
            <a:prstDash val="solid"/>
          </a:ln>
        </p:spPr>
      </p:sp>
      <p:sp>
        <p:nvSpPr>
          <p:cNvPr id="43" name="Shape 41"/>
          <p:cNvSpPr/>
          <p:nvPr/>
        </p:nvSpPr>
        <p:spPr>
          <a:xfrm>
            <a:off x="8503920" y="4800600"/>
            <a:ext cx="640080" cy="342900"/>
          </a:xfrm>
          <a:prstGeom prst="rect">
            <a:avLst/>
          </a:prstGeom>
          <a:solidFill>
            <a:srgbClr val="A12556"/>
          </a:solidFill>
          <a:ln w="12700">
            <a:solidFill>
              <a:srgbClr val="A1255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Architecture - Spam Protection Webapp</dc:title>
  <dc:subject>PptxGenJS Presentation</dc:subject>
  <dc:creator>Spam Protection</dc:creator>
  <cp:lastModifiedBy>Spam Protection</cp:lastModifiedBy>
  <cp:revision>1</cp:revision>
  <dcterms:created xsi:type="dcterms:W3CDTF">2026-09-08T15:46:35Z</dcterms:created>
  <dcterms:modified xsi:type="dcterms:W3CDTF">2026-09-08T15:46:35Z</dcterms:modified>
</cp:coreProperties>
</file>